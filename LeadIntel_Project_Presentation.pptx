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u="none">
                <a:solidFill>
                  <a:srgbClr val="1F497D"/>
                </a:solidFill>
                <a:latin typeface="Times New Roman"/>
              </a:rPr>
              <a:t>Cold-Start Model Benchmark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v2 (selected)</c:v>
                </c:pt>
              </c:strCache>
            </c:strRef>
          </c:tx>
          <c:spPr>
            <a:solidFill>
              <a:srgbClr val="4F81BD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55.4</c:v>
                </c:pt>
                <c:pt idx="1">
                  <c:v>64.2</c:v>
                </c:pt>
                <c:pt idx="2">
                  <c:v>66.5</c:v>
                </c:pt>
                <c:pt idx="3">
                  <c:v>65.3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v2</c:v>
                </c:pt>
              </c:strCache>
            </c:strRef>
          </c:tx>
          <c:spPr>
            <a:solidFill>
              <a:srgbClr val="C0504D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51.8</c:v>
                </c:pt>
                <c:pt idx="1">
                  <c:v>63.7</c:v>
                </c:pt>
                <c:pt idx="2">
                  <c:v>54.8</c:v>
                </c:pt>
                <c:pt idx="3">
                  <c:v>58.9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u="none">
                <a:solidFill>
                  <a:srgbClr val="1F497D"/>
                </a:solidFill>
                <a:latin typeface="Times New Roman"/>
              </a:rPr>
              <a:t>“LeadIntel: An AI-Based B2B Lead Intelligence &amp; Conversion Prediction System”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2971800"/>
            <a:ext cx="4114800" cy="3175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000000"/>
                </a:solidFill>
                <a:latin typeface="Times New Roman"/>
              </a:rPr>
              <a:t>Guide: Dr. Nilesh Marathe</a:t>
            </a:r>
          </a:p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000000"/>
                </a:solidFill>
                <a:latin typeface="Times New Roman"/>
              </a:rPr>
              <a:t>Candidates</a:t>
            </a:r>
          </a:p>
          <a:p>
            <a:pPr algn="ctr">
              <a:spcAft>
                <a:spcPts val="6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Omkar Pramod Bandikatte – 60009230009</a:t>
            </a:r>
          </a:p>
          <a:p>
            <a:pPr algn="ctr">
              <a:spcAft>
                <a:spcPts val="6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Ronak Parmar – 6000923</a:t>
            </a:r>
          </a:p>
          <a:p>
            <a:pPr algn="ctr">
              <a:spcAft>
                <a:spcPts val="6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Tanish Dadlani – 6000923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 u="none">
                <a:solidFill>
                  <a:srgbClr val="404040"/>
                </a:solidFill>
                <a:latin typeface="Times New Roman"/>
              </a:rPr>
              <a:t>Department of Computer Science and Engineering (Data Science)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 u="none">
                <a:solidFill>
                  <a:srgbClr val="404040"/>
                </a:solidFill>
                <a:latin typeface="Times New Roman"/>
              </a:rPr>
              <a:t>Date: 11-09-2026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u="none">
                <a:solidFill>
                  <a:srgbClr val="C0504D"/>
                </a:solidFill>
                <a:latin typeface="Times New Roman"/>
              </a:rPr>
              <a:t>1.  </a:t>
            </a:r>
            <a:r>
              <a:rPr sz="2400" b="1" i="0" u="none">
                <a:solidFill>
                  <a:srgbClr val="1F497D"/>
                </a:solidFill>
                <a:latin typeface="Times New Roman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450591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u="none">
                <a:solidFill>
                  <a:srgbClr val="C0504D"/>
                </a:solidFill>
                <a:latin typeface="Times New Roman"/>
              </a:rPr>
              <a:t>2.  </a:t>
            </a:r>
            <a:r>
              <a:rPr sz="2400" b="1" i="0" u="none">
                <a:solidFill>
                  <a:srgbClr val="1F497D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6382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u="none">
                <a:solidFill>
                  <a:srgbClr val="C0504D"/>
                </a:solidFill>
                <a:latin typeface="Times New Roman"/>
              </a:rPr>
              <a:t>3.  </a:t>
            </a:r>
            <a:r>
              <a:rPr sz="2400" b="1" i="0" u="none">
                <a:solidFill>
                  <a:srgbClr val="1F497D"/>
                </a:solidFill>
                <a:latin typeface="Times New Roman"/>
              </a:rPr>
              <a:t>Research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77056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u="none">
                <a:solidFill>
                  <a:srgbClr val="C0504D"/>
                </a:solidFill>
                <a:latin typeface="Times New Roman"/>
              </a:rPr>
              <a:t>4.  </a:t>
            </a:r>
            <a:r>
              <a:rPr sz="2400" b="1" i="0" u="none">
                <a:solidFill>
                  <a:srgbClr val="1F497D"/>
                </a:solidFill>
                <a:latin typeface="Times New Roman"/>
              </a:rPr>
              <a:t>Problem Definition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9028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u="none">
                <a:solidFill>
                  <a:srgbClr val="C0504D"/>
                </a:solidFill>
                <a:latin typeface="Times New Roman"/>
              </a:rPr>
              <a:t>5.  </a:t>
            </a:r>
            <a:r>
              <a:rPr sz="2400" b="1" i="0" u="none">
                <a:solidFill>
                  <a:srgbClr val="1F497D"/>
                </a:solidFill>
                <a:latin typeface="Times New Roman"/>
              </a:rPr>
              <a:t>Data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03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u="none">
                <a:solidFill>
                  <a:srgbClr val="C0504D"/>
                </a:solidFill>
                <a:latin typeface="Times New Roman"/>
              </a:rPr>
              <a:t>6.  </a:t>
            </a:r>
            <a:r>
              <a:rPr sz="2400" b="1" i="0" u="none">
                <a:solidFill>
                  <a:srgbClr val="1F497D"/>
                </a:solidFill>
                <a:latin typeface="Times New Roman"/>
              </a:rPr>
              <a:t>Proposed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•  An end-to-end B2B lead-intelligence platform built for Cloud Counselage's Business Development team.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•  Automatically identifies high-potential companies, scores buying intent &amp; conversion probability, and recommends the next service line to pitch.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•  Service lines covered: Branding, Hiring, Learning &amp; Development, and IAC Partnership.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•  Core design constraint: zero paid third-party APIs — every component is free, open-source, or self-hosted.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0" i="0" u="none">
                <a:solidFill>
                  <a:srgbClr val="000000"/>
                </a:solidFill>
                <a:latin typeface="Times New Roman"/>
              </a:rPr>
              <a:t>•  Replaces manual, judgment-based lead qualification with a repeatable, explainable, data-driven pipeline at zero recurring API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4754880"/>
              </a:tblGrid>
              <a:tr h="391885"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Established Industry Tool(s)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Approach Studied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Company enrichment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ZoomInfo, Clearbit, Apollo.io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Single API call returns clean firmographic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Intent data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Bombora, 6sense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Cross-site behavioural intent signals (paid panels)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Funding / growth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Crunchbase, Tracxn (paid tiers)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Structured funding databases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NLP / text classification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OpenAI API, Anthropic API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Hosted LLMs for zero-shot classification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Auth0, Clerk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Managed auth-as-a-service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Task queue / infra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AWS SQS, Feast/Tecton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Fully managed, hosted infrastructure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0" i="0" u="none">
                <a:solidFill>
                  <a:srgbClr val="000000"/>
                </a:solidFill>
                <a:latin typeface="Times New Roman"/>
              </a:rPr>
              <a:t>•  Key takeaway: every mainstream solution is built around paid, per-call APIs — no established free/open-source reference architecture exists for this exact combination of enrichment + intent scoring + service-line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  <a:gridCol w="539496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Paid Standard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Gap / Alternative Chosen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Company enrichment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ZoomInfo, Clearbit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Public MCA/ROC filings + web scraping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Intent data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Bombora, 6sense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Job-posting velocity as an intent proxy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NLP /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OpenAI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Local HuggingFace distilbert-base-uncased-mnli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Auth0, Clerk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Self-issued JWTs via python-jose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Task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AWS SQS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Self-hosted Redis + Celery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</a:rPr>
              <a:t>•  Honest limitation: funding/growth-stage data (Crunchbase/Tracxn-level) remains a real gap versus paid tools — inferred instead from public press mentions.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 i="0" u="none">
                <a:solidFill>
                  <a:srgbClr val="000000"/>
                </a:solidFill>
                <a:latin typeface="Times New Roman"/>
              </a:rPr>
              <a:t>•  This is the gap the project fills: a fully free, self-hosted pipeline covering enrichment → intent → NLP → scoring → recommendation,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Problem Definition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34440"/>
          </a:xfrm>
          <a:prstGeom prst="rect">
            <a:avLst/>
          </a:prstGeom>
          <a:solidFill>
            <a:srgbClr val="E7E6E6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 i="0" u="none">
                <a:solidFill>
                  <a:srgbClr val="1F497D"/>
                </a:solidFill>
                <a:latin typeface="Times New Roman"/>
              </a:rPr>
              <a:t>Problem Statement</a:t>
            </a:r>
          </a:p>
          <a:p>
            <a:r>
              <a:rPr sz="1500" b="0" i="1" u="none">
                <a:solidFill>
                  <a:srgbClr val="404040"/>
                </a:solidFill>
                <a:latin typeface="Times New Roman"/>
              </a:rPr>
              <a:t>Automatically identify high-potential B2B companies, score their buying intent and conversion probability, and recommend which Cloud Counselage service line — Branding, Hiring, Learning &amp; Development, or IAC Partnership — to pitch next; using only free and open-source tooling.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 i="0" u="none">
                <a:solidFill>
                  <a:srgbClr val="000000"/>
                </a:solidFill>
                <a:latin typeface="Times New Roman"/>
              </a:rPr>
              <a:t>•  Automate lead discovery — continuously ingest public firmographic, hiring, and news signals per company.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 i="0" u="none">
                <a:solidFill>
                  <a:srgbClr val="000000"/>
                </a:solidFill>
                <a:latin typeface="Times New Roman"/>
              </a:rPr>
              <a:t>•  Score buying intent &amp; conversion probability using a two-stage engine (deterministic rules → supervised ML).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 i="0" u="none">
                <a:solidFill>
                  <a:srgbClr val="000000"/>
                </a:solidFill>
                <a:latin typeface="Times New Roman"/>
              </a:rPr>
              <a:t>•  Recommend the right service line with a per-service probability breakdown, not just a single label.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 i="0" u="none">
                <a:solidFill>
                  <a:srgbClr val="000000"/>
                </a:solidFill>
                <a:latin typeface="Times New Roman"/>
              </a:rPr>
              <a:t>•  Guarantee explainability — every score returns its top contributing factors for BD-rep trust.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 i="0" u="none">
                <a:solidFill>
                  <a:srgbClr val="000000"/>
                </a:solidFill>
                <a:latin typeface="Times New Roman"/>
              </a:rPr>
              <a:t>•  Close the feedback loop — capture BD-rep accuracy feedback and CRM outcomes to trigger retraining.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 i="0" u="none">
                <a:solidFill>
                  <a:srgbClr val="000000"/>
                </a:solidFill>
                <a:latin typeface="Times New Roman"/>
              </a:rPr>
              <a:t>•  Operate at zero per-call API cost — every component free, open-source, or self-hosted.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Data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10540"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Attribute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Detail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Public web sources: company career pages, job boards, news RSS feeds, About Us pages, MCA/ROC filings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6,711 labelled rows collected into the feature store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Firmographic signals, job-posting counts, NLP-derived category signals, historical CRM conversion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PostgreSQL 16 — raw_documents, nlp_features, companies, crm_deals, lead_scores tables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Engineered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 features: fit_score, intent_score, job_posting_count_14d, has_press_30d, avg_nlp_confidence, share_branding, share_hiring, share_learning_development, share_iac_partnership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</a:rPr>
              <a:t>•  EDA outputs: class distribution, feature distributions, correlation heatmap, win-rates by segment, and boxplots — confirming label balance and flagging outliers/collinearity before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Data Description — Model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u="none">
                <a:solidFill>
                  <a:srgbClr val="1F497D"/>
                </a:solidFill>
                <a:latin typeface="Times New Roman"/>
              </a:rPr>
              <a:t>logreg_v2 selected</a:t>
            </a:r>
          </a:p>
          <a:p>
            <a:pPr>
              <a:spcAft>
                <a:spcPts val="800"/>
              </a:spcAft>
            </a:pPr>
            <a:r>
              <a:rPr sz="1300" b="0" i="0" u="none">
                <a:solidFill>
                  <a:srgbClr val="404040"/>
                </a:solidFill>
                <a:latin typeface="Times New Roman"/>
              </a:rPr>
              <a:t>•  ROC-AUC: 0.52 (logreg) vs 0.50 (xgb)</a:t>
            </a:r>
          </a:p>
          <a:p>
            <a:pPr>
              <a:spcAft>
                <a:spcPts val="800"/>
              </a:spcAft>
            </a:pPr>
            <a:r>
              <a:rPr sz="1300" b="0" i="0" u="none">
                <a:solidFill>
                  <a:srgbClr val="404040"/>
                </a:solidFill>
                <a:latin typeface="Times New Roman"/>
              </a:rPr>
              <a:t>•  Higher F1 &amp; AUC drove selection</a:t>
            </a:r>
          </a:p>
          <a:p>
            <a:pPr>
              <a:spcAft>
                <a:spcPts val="800"/>
              </a:spcAft>
            </a:pPr>
            <a:r>
              <a:rPr sz="1300" b="0" i="0" u="none">
                <a:solidFill>
                  <a:srgbClr val="404040"/>
                </a:solidFill>
                <a:latin typeface="Times New Roman"/>
              </a:rPr>
              <a:t>•  Trained: 2 Aug 2026</a:t>
            </a:r>
          </a:p>
          <a:p>
            <a:pPr>
              <a:spcAft>
                <a:spcPts val="800"/>
              </a:spcAft>
            </a:pPr>
            <a:r>
              <a:rPr sz="1300" b="0" i="0" u="none">
                <a:solidFill>
                  <a:srgbClr val="404040"/>
                </a:solidFill>
                <a:latin typeface="Times New Roman"/>
              </a:rPr>
              <a:t>•  Cold-start baseline on a noisy dataset</a:t>
            </a:r>
          </a:p>
          <a:p>
            <a:pPr>
              <a:spcAft>
                <a:spcPts val="800"/>
              </a:spcAft>
            </a:pPr>
            <a:r>
              <a:rPr sz="1300" b="0" i="0" u="none">
                <a:solidFill>
                  <a:srgbClr val="404040"/>
                </a:solidFill>
                <a:latin typeface="Times New Roman"/>
              </a:rPr>
              <a:t>•  V1 rules engine runs in parallel for immediate coverage while ML improves via the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Proposed Design —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1600200"/>
            <a:ext cx="3200400" cy="502920"/>
          </a:xfrm>
          <a:prstGeom prst="roundRect">
            <a:avLst/>
          </a:prstGeom>
          <a:solidFill>
            <a:srgbClr val="1F497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Times New Roman"/>
              </a:rPr>
              <a:t>Scheduler — Celery Beat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103120"/>
            <a:ext cx="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331720"/>
            <a:ext cx="3474720" cy="54864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Times New Roman"/>
              </a:rPr>
              <a:t>Firmographic Scraper
(requests + BeautifulSoup)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31720"/>
            <a:ext cx="3474720" cy="54864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Times New Roman"/>
              </a:rPr>
              <a:t>Job Posting Scraper
(Playwright + BeautifulSoup)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331720"/>
            <a:ext cx="3474720" cy="54864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Times New Roman"/>
              </a:rPr>
              <a:t>News / RSS Scraper
(feedparser)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880360"/>
            <a:ext cx="3794760" cy="27432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880360"/>
            <a:ext cx="0" cy="27432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080760" y="2880360"/>
            <a:ext cx="3794760" cy="27432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3154680"/>
            <a:ext cx="3200400" cy="502920"/>
          </a:xfrm>
          <a:prstGeom prst="roundRect">
            <a:avLst/>
          </a:prstGeom>
          <a:solidFill>
            <a:srgbClr val="9BBB59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Times New Roman"/>
              </a:rPr>
              <a:t>Raw Documents (Postgres JSONB)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657600"/>
            <a:ext cx="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23360" y="3886200"/>
            <a:ext cx="4114800" cy="502920"/>
          </a:xfrm>
          <a:prstGeom prst="roundRect">
            <a:avLst/>
          </a:prstGeom>
          <a:solidFill>
            <a:srgbClr val="9BBB59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Times New Roman"/>
              </a:rPr>
              <a:t>NLP Service — spaCy + HuggingFace need classifier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389120"/>
            <a:ext cx="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80560" y="4617720"/>
            <a:ext cx="3200400" cy="502920"/>
          </a:xfrm>
          <a:prstGeom prst="roundRect">
            <a:avLst/>
          </a:prstGeom>
          <a:solidFill>
            <a:srgbClr val="9BBB59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Times New Roman"/>
              </a:rPr>
              <a:t>Feature Store (Postgres tables)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40480" y="5120640"/>
            <a:ext cx="128016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5120640"/>
            <a:ext cx="128016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94560" y="5349240"/>
            <a:ext cx="3291840" cy="54864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Times New Roman"/>
              </a:rPr>
              <a:t>V1 Rules Engine
(cold-start, always 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5349240"/>
            <a:ext cx="3291840" cy="54864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Times New Roman"/>
              </a:rPr>
              <a:t>V2 ML Scorer
LogReg / XGBoost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5897880"/>
            <a:ext cx="224028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80760" y="5897880"/>
            <a:ext cx="2240280" cy="22860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80560" y="6126480"/>
            <a:ext cx="3200400" cy="457200"/>
          </a:xfrm>
          <a:prstGeom prst="roundRect">
            <a:avLst/>
          </a:prstGeom>
          <a:solidFill>
            <a:srgbClr val="1F497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Times New Roman"/>
              </a:rPr>
              <a:t>lead_scores (fit, intent, conv_prob, service_probs)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25" name="TextBox 2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Proposed Design — Serving Layer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120640" cy="640080"/>
          </a:xfrm>
          <a:prstGeom prst="roundRect">
            <a:avLst/>
          </a:prstGeom>
          <a:solidFill>
            <a:srgbClr val="1F497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Times New Roman"/>
              </a:rPr>
              <a:t>FastAPI Backend
/companies /leads /scores /crm-sync /analytics /auth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011680" y="2240280"/>
            <a:ext cx="1188720" cy="32004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0" y="2240280"/>
            <a:ext cx="1737360" cy="320040"/>
          </a:xfrm>
          <a:prstGeom prst="line">
            <a:avLst/>
          </a:prstGeom>
          <a:ln w="19050">
            <a:solidFill>
              <a:srgbClr val="1F49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560320"/>
            <a:ext cx="2743200" cy="59436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Times New Roman"/>
              </a:rPr>
              <a:t>Next.js Dashboard
(App Router + Tailwind)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926080" cy="594360"/>
          </a:xfrm>
          <a:prstGeom prst="roundRect">
            <a:avLst/>
          </a:prstGeom>
          <a:solidFill>
            <a:srgbClr val="4F81B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Times New Roman"/>
              </a:rPr>
              <a:t>CRM Sync Service
CSV export/import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00200"/>
            <a:ext cx="4663440" cy="155448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 u="none">
                <a:solidFill>
                  <a:srgbClr val="1F497D"/>
                </a:solidFill>
                <a:latin typeface="Times New Roman"/>
              </a:rPr>
              <a:t>RBAC: admin / manager / bd_executive
enforced via self-issued JWTs
(python-jose + passlib)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429000"/>
          <a:ext cx="10881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306324"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1F497D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FastAPI 0.115, Python 3.12, Uvicorn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ORM / Migrations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SQLAlchemy 2, Alembic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PostgreSQL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Task Queue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Celery 5 + Redis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spaCy en_core_web_sm, HuggingFace distilbert-base-uncased-mnli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scikit-learn 1.5.2, XGBoost 2.1.3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python-jose (JWT), passlib (bcrypt)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Next.js 15 (App Router), TypeScript, Tailwind CSS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Containerisation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Docker, docker-compose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12" name="TextBox 11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u="sng">
                <a:solidFill>
                  <a:srgbClr val="1F497D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2194560" cy="38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[1]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[2]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[3]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[4]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[5]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[6]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[7]  &lt;Author(s)&gt;, “&lt;Title of paper&gt;,” &lt;Journal / Conference&gt;, &lt;Year&gt;.</a:t>
            </a:r>
          </a:p>
          <a:p>
            <a:pPr>
              <a:spcAft>
                <a:spcPts val="1400"/>
              </a:spcAft>
            </a:pPr>
            <a:r>
              <a:rPr sz="1600" b="0" i="1" u="none">
                <a:solidFill>
                  <a:srgbClr val="404040"/>
                </a:solidFill>
                <a:latin typeface="Times New Roman"/>
              </a:rPr>
              <a:t>[8]  &lt;Author(s)&gt;, “&lt;Title of paper&gt;,” &lt;Journal / Conference&gt;, &lt;Year&gt;.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 u="none">
                <a:solidFill>
                  <a:srgbClr val="C0504D"/>
                </a:solidFill>
                <a:latin typeface="Times New Roman"/>
              </a:rPr>
              <a:t>Placeholder slide — replace with actual cited papers/sources.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LeadIntel — AI-Based B2B Lead Intelligence &amp; Conversion Prediction System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u="none">
                <a:solidFill>
                  <a:srgbClr val="80808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 u="none">
                <a:solidFill>
                  <a:srgbClr val="1F497D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3794760"/>
            <a:ext cx="2286000" cy="3175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 u="none">
                <a:solidFill>
                  <a:srgbClr val="404040"/>
                </a:solidFill>
                <a:latin typeface="Times New Roman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